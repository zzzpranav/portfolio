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77724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81328" y="1554480"/>
            <a:ext cx="96012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cribCheck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14600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>
                <a:solidFill>
                  <a:srgbClr val="CBD5E1"/>
                </a:solidFill>
                <a:latin typeface="Calibri"/>
              </a:rPr>
              <a:t>Catch housing damage early before a small problem becomes an expensive crisis.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749039"/>
            <a:ext cx="3840480" cy="384048"/>
          </a:xfrm>
          <a:prstGeom prst="roundRect">
            <a:avLst>
              <a:gd name="adj" fmla="val 8000"/>
            </a:avLst>
          </a:prstGeom>
          <a:solidFill>
            <a:srgbClr val="1A243A"/>
          </a:solidFill>
          <a:ln w="1587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794760"/>
            <a:ext cx="35661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2DD4BF"/>
                </a:solidFill>
                <a:latin typeface="Calibri"/>
              </a:rPr>
              <a:t>EARLY EVIDENCE BEFORE THE CRISIS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84632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Calibri"/>
              </a:rPr>
              <a:t>TEAM: gotplacestobe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212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Vidushi Bist  ·  Vanshika Gupta  ·  Gaurav Bhat  ·  Pranav Srusti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92240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cribCheck  ·  gotplacestobe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92240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Damage stays invisible until it’s a crisis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3520440" cy="402336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2971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D4B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34640"/>
            <a:ext cx="2971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Renters see it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40480"/>
            <a:ext cx="29718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Stains, leaks, and mold appear, but renters lack credible, structured proof for landlords.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828800"/>
            <a:ext cx="3520440" cy="402336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148840"/>
            <a:ext cx="2971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D4B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834640"/>
            <a:ext cx="2971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Requests get ignored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840480"/>
            <a:ext cx="29718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Without a shared record, maintenance requests are delayed, disputed, or dismissed.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828800"/>
            <a:ext cx="3520440" cy="402336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148840"/>
            <a:ext cx="2971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DD4BF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834640"/>
            <a:ext cx="2971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Costs compound fast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840480"/>
            <a:ext cx="29718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By the time damage is undeniable, remediation and deposit fights cost far more than an early fix.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cribCheck  ·  gotplacestobe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492240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Most renters already face habitability issues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3520440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810512"/>
            <a:ext cx="311810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>
                <a:solidFill>
                  <a:srgbClr val="2DD4BF"/>
                </a:solidFill>
                <a:latin typeface="Calibri"/>
              </a:rPr>
              <a:t>60%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514600"/>
            <a:ext cx="311810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Multiple issues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971800"/>
            <a:ext cx="311810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of renters had &gt;1 habitability issue in the last 2 years (NLIHC 2025)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554480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554480"/>
            <a:ext cx="3520440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810512"/>
            <a:ext cx="311810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>
                <a:solidFill>
                  <a:srgbClr val="2DD4BF"/>
                </a:solidFill>
                <a:latin typeface="Calibri"/>
              </a:rPr>
              <a:t>26%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2514600"/>
            <a:ext cx="311810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Landlord inaction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971800"/>
            <a:ext cx="311810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of those who contacted their landlord say no attempt was made to fix 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554480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554480"/>
            <a:ext cx="3520440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1810512"/>
            <a:ext cx="311810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>
                <a:solidFill>
                  <a:srgbClr val="2DD4BF"/>
                </a:solidFill>
                <a:latin typeface="Calibri"/>
              </a:rPr>
              <a:t>18%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2514600"/>
            <a:ext cx="311810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Very confident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2971800"/>
            <a:ext cx="311810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only 18% very confident landlord would act; 40% had no confidence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06908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069080"/>
            <a:ext cx="5394960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4325112"/>
            <a:ext cx="499262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2DD4BF"/>
                </a:solidFill>
                <a:latin typeface="Calibri"/>
              </a:rPr>
              <a:t>$2.3-2.4K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5029200"/>
            <a:ext cx="499262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Average remediation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5486400"/>
            <a:ext cx="499262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Typical remediation often ~$1,200-$3,750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406908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4069080"/>
            <a:ext cx="5394960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4325112"/>
            <a:ext cx="499262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2DD4BF"/>
                </a:solidFill>
                <a:latin typeface="Calibri"/>
              </a:rPr>
              <a:t>~$15.1B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5029200"/>
            <a:ext cx="499262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Asthma morbidity / year (LBNL)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5486400"/>
            <a:ext cx="499262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~21% of US asthma cases attributable to dampness &amp; mold (~4.6M people)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92240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cribCheck  ·  gotplacestobe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492240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THE COST OF WAITING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Waiting is expensive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2606040" cy="27432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2606040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856232"/>
            <a:ext cx="220370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2DD4BF"/>
                </a:solidFill>
                <a:latin typeface="Calibri"/>
              </a:rPr>
              <a:t>$303-$1,045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560320"/>
            <a:ext cx="220370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Mold inspection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17520"/>
            <a:ext cx="2203704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Average ~$671 (Angi)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1600200"/>
            <a:ext cx="2606040" cy="27432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0128" y="1600200"/>
            <a:ext cx="2606040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1296" y="1856232"/>
            <a:ext cx="220370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2DD4BF"/>
                </a:solidFill>
                <a:latin typeface="Calibri"/>
              </a:rPr>
              <a:t>+$250-$500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2560320"/>
            <a:ext cx="220370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Lab sampling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1296" y="3017520"/>
            <a:ext cx="2203704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Often added on top of inspection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17336" y="1600200"/>
            <a:ext cx="2606040" cy="27432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17336" y="1600200"/>
            <a:ext cx="2606040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8504" y="1856232"/>
            <a:ext cx="220370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2DD4BF"/>
                </a:solidFill>
                <a:latin typeface="Calibri"/>
              </a:rPr>
              <a:t>$1.2-3.75K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2560320"/>
            <a:ext cx="220370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Typical remediation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3017520"/>
            <a:ext cx="2203704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Avg ~$2.3-2.4K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600200"/>
            <a:ext cx="2606040" cy="27432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600200"/>
            <a:ext cx="2606040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25712" y="1856232"/>
            <a:ext cx="220370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2DD4BF"/>
                </a:solidFill>
                <a:latin typeface="Calibri"/>
              </a:rPr>
              <a:t>$10-30K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5712" y="2560320"/>
            <a:ext cx="220370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Whole-house jobs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712" y="3017520"/>
            <a:ext cx="2203704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When damage is left to escalate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663440"/>
            <a:ext cx="11155680" cy="1280160"/>
          </a:xfrm>
          <a:prstGeom prst="roundRect">
            <a:avLst>
              <a:gd name="adj" fmla="val 8000"/>
            </a:avLst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846320"/>
            <a:ext cx="2286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2DD4BF"/>
                </a:solidFill>
                <a:latin typeface="Calibri"/>
              </a:rPr>
              <a:t>10-50%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4937760"/>
            <a:ext cx="80467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of indoor environments show dampness (WHO)
Dampness linked to respiratory symptoms &amp; asthma exacerbation.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92240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cribCheck  ·  gotplacestobe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492240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OUR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Renters identify damage and relay it clearly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74520"/>
            <a:ext cx="109728" cy="5029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63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Guided 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46634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Phone camera with nextBestSurface() directs renters to high-risk surfaces first.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5448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874520"/>
            <a:ext cx="109728" cy="5029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828800"/>
            <a:ext cx="4663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AI-powered 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377440"/>
            <a:ext cx="46634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Plain-English defect labels with on-photo boxes: mold, seepage, crack, peeling paint.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61188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109728" cy="5029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886200"/>
            <a:ext cx="4663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Honest progression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434840"/>
            <a:ext cx="46634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Ghost overlay aligns new photos with prior shots: worse vs. better is undeniable.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61188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3931920"/>
            <a:ext cx="109728" cy="5029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886200"/>
            <a:ext cx="4663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Shareable 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434840"/>
            <a:ext cx="46634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Structured property report for owners &amp; inspectors: evidence, not a diagnosis.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92240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cribCheck  ·  gotplacestobe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492240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PRODUCT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From worry to shareable record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011680" cy="384048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" y="2194560"/>
            <a:ext cx="731520" cy="73152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304288"/>
            <a:ext cx="7315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>
                <a:solidFill>
                  <a:srgbClr val="0B1220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1737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Sign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17373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CBD5E1"/>
                </a:solidFill>
                <a:latin typeface="Calibri"/>
              </a:rPr>
              <a:t>Choose tenant or owner / inspector 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2888" y="3566160"/>
            <a:ext cx="182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2DD4BF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1828800"/>
            <a:ext cx="2011680" cy="384048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37560" y="2194560"/>
            <a:ext cx="731520" cy="73152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304288"/>
            <a:ext cx="7315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>
                <a:solidFill>
                  <a:srgbClr val="0B1220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00400"/>
            <a:ext cx="1737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Pick property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931920"/>
            <a:ext cx="17373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CBD5E1"/>
                </a:solidFill>
                <a:latin typeface="Calibri"/>
              </a:rPr>
              <a:t>App guides where to point 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3566160"/>
            <a:ext cx="182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2DD4BF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1828800"/>
            <a:ext cx="2011680" cy="384048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532120" y="2194560"/>
            <a:ext cx="731520" cy="73152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32120" y="2304288"/>
            <a:ext cx="7315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>
                <a:solidFill>
                  <a:srgbClr val="0B1220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200400"/>
            <a:ext cx="1737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Capture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931920"/>
            <a:ext cx="17373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CBD5E1"/>
                </a:solidFill>
                <a:latin typeface="Calibri"/>
              </a:rPr>
              <a:t>Gemini + Roboflow verify finding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2008" y="3566160"/>
            <a:ext cx="182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2DD4BF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1828800"/>
            <a:ext cx="2011680" cy="384048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726680" y="2194560"/>
            <a:ext cx="731520" cy="73152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80" y="2304288"/>
            <a:ext cx="7315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>
                <a:solidFill>
                  <a:srgbClr val="0B1220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200400"/>
            <a:ext cx="1737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3931920"/>
            <a:ext cx="17373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CBD5E1"/>
                </a:solidFill>
                <a:latin typeface="Calibri"/>
              </a:rPr>
              <a:t>Surfaces tracked; unreviewed = not a claim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8" y="3566160"/>
            <a:ext cx="182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2DD4BF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81160" y="1828800"/>
            <a:ext cx="2011680" cy="384048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21240" y="2194560"/>
            <a:ext cx="731520" cy="73152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21240" y="2304288"/>
            <a:ext cx="7315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>
                <a:solidFill>
                  <a:srgbClr val="0B1220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3200400"/>
            <a:ext cx="1737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Share &amp; 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3931920"/>
            <a:ext cx="17373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CBD5E1"/>
                </a:solidFill>
                <a:latin typeface="Calibri"/>
              </a:rPr>
              <a:t>Renter shares; landlord responds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92240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cribCheck  ·  gotplacestobe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6492240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DIFFERENTIATORS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Four things that make cribCheck more than a photo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5394960" cy="20574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5394960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Guided capture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94560"/>
            <a:ext cx="3108960" cy="310896"/>
          </a:xfrm>
          <a:prstGeom prst="roundRect">
            <a:avLst>
              <a:gd name="adj" fmla="val 8000"/>
            </a:avLst>
          </a:prstGeom>
          <a:solidFill>
            <a:srgbClr val="1A243A"/>
          </a:solidFill>
          <a:ln w="1587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21992"/>
            <a:ext cx="30175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2DD4BF"/>
                </a:solidFill>
                <a:latin typeface="Calibri"/>
              </a:rPr>
              <a:t>nextBestSurface()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4846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Spends limited renter patience where risk × uncertainty is highest. Coverage advances after each 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08760"/>
            <a:ext cx="5394960" cy="20574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508760"/>
            <a:ext cx="5394960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3736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Honest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194560"/>
            <a:ext cx="3108960" cy="310896"/>
          </a:xfrm>
          <a:prstGeom prst="roundRect">
            <a:avLst>
              <a:gd name="adj" fmla="val 8000"/>
            </a:avLst>
          </a:prstGeom>
          <a:solidFill>
            <a:srgbClr val="1A243A"/>
          </a:solidFill>
          <a:ln w="1587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221992"/>
            <a:ext cx="30175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2DD4BF"/>
                </a:solidFill>
                <a:latin typeface="Calibri"/>
              </a:rPr>
              <a:t>Ghost overlay + timeline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51760"/>
            <a:ext cx="4846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Lines up each photo with the last. First vs. latest on the report: progression is undeniable, not arguable.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67328"/>
            <a:ext cx="5394960" cy="20574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767328"/>
            <a:ext cx="5394960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95928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Human review gate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453128"/>
            <a:ext cx="3108960" cy="310896"/>
          </a:xfrm>
          <a:prstGeom prst="roundRect">
            <a:avLst>
              <a:gd name="adj" fmla="val 8000"/>
            </a:avLst>
          </a:prstGeom>
          <a:solidFill>
            <a:srgbClr val="1A243A"/>
          </a:solidFill>
          <a:ln w="1587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480560"/>
            <a:ext cx="30175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2DD4BF"/>
                </a:solidFill>
                <a:latin typeface="Calibri"/>
              </a:rPr>
              <a:t>Unreviewed ≠ a claim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910328"/>
            <a:ext cx="4846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Items stay marked “not a claim” until confirmed. Protects all parties and builds trust in the record.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767328"/>
            <a:ext cx="5394960" cy="20574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3767328"/>
            <a:ext cx="5394960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995928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Defect coverage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453128"/>
            <a:ext cx="3108960" cy="310896"/>
          </a:xfrm>
          <a:prstGeom prst="roundRect">
            <a:avLst>
              <a:gd name="adj" fmla="val 8000"/>
            </a:avLst>
          </a:prstGeom>
          <a:solidFill>
            <a:srgbClr val="1A243A"/>
          </a:solidFill>
          <a:ln w="1587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480560"/>
            <a:ext cx="30175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2DD4BF"/>
                </a:solidFill>
                <a:latin typeface="Calibri"/>
              </a:rPr>
              <a:t>Mold · seepage · cracks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910328"/>
            <a:ext cx="48463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Detects mold, seepage, and cracks with plain-English labels and on-photo boxes so landlords see the defect, not a vague photo.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92240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cribCheck  ·  gotplacestobe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6492240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MODEL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Roboflow RF-DETR Small: held-out test 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2606040" cy="265176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2606040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810512"/>
            <a:ext cx="220370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2DD4BF"/>
                </a:solidFill>
                <a:latin typeface="Calibri"/>
              </a:rPr>
              <a:t>79.7%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514600"/>
            <a:ext cx="220370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mAP@50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971800"/>
            <a:ext cx="2203704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Overall detection quality at IoU 0.50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1554480"/>
            <a:ext cx="2606040" cy="265176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0128" y="1554480"/>
            <a:ext cx="2606040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1296" y="1810512"/>
            <a:ext cx="220370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2DD4BF"/>
                </a:solidFill>
                <a:latin typeface="Calibri"/>
              </a:rPr>
              <a:t>92.1%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2514600"/>
            <a:ext cx="220370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1296" y="2971800"/>
            <a:ext cx="2203704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When it flags a defect, it’s usually right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17336" y="1554480"/>
            <a:ext cx="2606040" cy="265176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17336" y="1554480"/>
            <a:ext cx="2606040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8504" y="1810512"/>
            <a:ext cx="220370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2DD4BF"/>
                </a:solidFill>
                <a:latin typeface="Calibri"/>
              </a:rPr>
              <a:t>70.0%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2514600"/>
            <a:ext cx="220370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2971800"/>
            <a:ext cx="2203704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Still misses some real defects (esp. hard mold)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554480"/>
            <a:ext cx="2606040" cy="265176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544" y="1554480"/>
            <a:ext cx="2606040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25712" y="1810512"/>
            <a:ext cx="220370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2DD4BF"/>
                </a:solidFill>
                <a:latin typeface="Calibri"/>
              </a:rPr>
              <a:t>79.4%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5712" y="2514600"/>
            <a:ext cx="220370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712" y="2971800"/>
            <a:ext cx="2203704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Balance of precision + recall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480560"/>
            <a:ext cx="11155680" cy="146304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663440"/>
            <a:ext cx="104241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Talk track: High precision means fewer false alarms to landlords. Recall gap is why Gemini still helps on ambiguous mold.
Related published benchmark (different dataset): ~83% mAP@50 on ~500 exterior-defect images (Chen &amp; Li, Scientific Reports 2025): honest neighbor, not identical.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92240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cribCheck  ·  gotplacestobe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6492240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Honesty is part of the pitch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5394960" cy="429768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47548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DD4BF"/>
                </a:solidFill>
                <a:latin typeface="Calibri"/>
              </a:rPr>
              <a:t>WE WILL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▸  We surface visible indicators and triage: “this warrants a look.”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▸  We measure change on the same surface over time.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▸  RF-DETR prefers high precision (92.1%): missing some cases over inventing defects.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5394960" cy="429768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7548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87171"/>
                </a:solidFill>
                <a:latin typeface="Calibri"/>
              </a:rPr>
              <a:t>WE WON’T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2860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▸  We do not diagnose health, identify mold species, or see moisture behind walls.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▸  WHO declined a single mold “threshold”: we don’t invent one.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▸  Professional meters/labs still matter for confirmation: cribCheck is early evidence, not a lab.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92240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cribCheck  ·  gotplacestobe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92240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WHO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earlier the evidence, the smaller the crisis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3520440" cy="41148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2971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Calibri"/>
              </a:rPr>
              <a:t>RENTERS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51760"/>
            <a:ext cx="2971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Proof that gets landlords to 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114800"/>
            <a:ext cx="29718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Clear, time-stamped evidence replaces vague complaints and ignored requests.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645920"/>
            <a:ext cx="3520440" cy="41148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011680"/>
            <a:ext cx="2971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Calibri"/>
              </a:rPr>
              <a:t>LANDLORDS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651760"/>
            <a:ext cx="2971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Early alerts that cut costs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4114800"/>
            <a:ext cx="29718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Catch damage before remediation, deposit disputes, and crisis cleanup.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645920"/>
            <a:ext cx="3520440" cy="41148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011680"/>
            <a:ext cx="2971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Calibri"/>
              </a:rPr>
              <a:t>INVESTORS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651760"/>
            <a:ext cx="2971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Proptech wedge in a $15B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114800"/>
            <a:ext cx="29718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Scalable early-evidence layer tied to habitability, health costs, and housing ops.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cribCheck  ·  gotplacestobe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492240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2DD4BF"/>
                </a:solidFill>
                <a:latin typeface="Calibri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30-45 seconds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6675120" cy="429768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5943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Calibri"/>
              </a:rPr>
              <a:t>LIVE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▸  Open a real property as a tenant.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▸  Follow the surface prompt, then shoot a visible defect.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▸  Show finding + detector badge (Gemini + RF / Roboflow).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▸  Optional: second shot with ghost overlay, then open the report.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▸  Close on /optimize if you need Optimization-track proof.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554480"/>
            <a:ext cx="4206240" cy="4297680"/>
          </a:xfrm>
          <a:prstGeom prst="roundRect">
            <a:avLst>
              <a:gd name="adj" fmla="val 8000"/>
            </a:avLst>
          </a:prstGeom>
          <a:solidFill>
            <a:srgbClr val="1A243A"/>
          </a:solidFill>
          <a:ln w="1587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2011680"/>
            <a:ext cx="3566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Calibri"/>
              </a:rPr>
              <a:t>THE 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651760"/>
            <a:ext cx="356616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Try a guided walkthrough
or give feedback on false positives.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92240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cribCheck  ·  gotplacestobe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92240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0972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The earlier the evidence,
the smaller the crisis.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CBD5E1"/>
                </a:solidFill>
                <a:latin typeface="Calibri"/>
              </a:rPr>
              <a:t>Save money before the crisis with evidence landlords can act on.</a:t>
            </a:r>
          </a:p>
        </p:txBody>
      </p:sp>
      <p:pic>
        <p:nvPicPr>
          <p:cNvPr id="6" name="Picture 5" descr="brand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86200"/>
            <a:ext cx="5029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70432" y="3931920"/>
            <a:ext cx="9144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DD4BF"/>
                </a:solidFill>
                <a:latin typeface="Calibri"/>
              </a:rPr>
              <a:t>cribCheck  ·  gotplacestobe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029200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Sources: NLIHC 2025; Harvard JCHS; LBNL / Mudarri &amp; Fisk; WHO Indoor Air Quality (Dampness &amp; Mould); Angi mold costs; Zillow Rentals 2024; Roost; Roboflow RF-DETR.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92240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